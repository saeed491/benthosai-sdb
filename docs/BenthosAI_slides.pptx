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4" d="100"/>
          <a:sy n="134" d="100"/>
        </p:scale>
        <p:origin x="-1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26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258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8FB8CE"/>
                </a:solidFill>
                <a:latin typeface="Calibri"/>
                <a:ea typeface="Calibri"/>
                <a:cs typeface="Calibri"/>
              </a:rPr>
              <a:t>ARAB YOUTH SPACE HACKATHON 2026  ·  813 CHALLENGE  ·  PROOF OF CONCEPT</a:t>
            </a:r>
          </a:p>
        </p:txBody>
      </p:sp>
      <p:sp>
        <p:nvSpPr>
          <p:cNvPr id="3" name="Cover title"/>
          <p:cNvSpPr txBox="1"/>
          <p:nvPr/>
        </p:nvSpPr>
        <p:spPr>
          <a:xfrm>
            <a:off x="640080" y="1737360"/>
            <a:ext cx="1090879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20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BenthosAI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42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Seabed depth and water clarity from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0" i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Theme: Water Quality &amp; Inland/Coastal Water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270248"/>
            <a:ext cx="1005840" cy="1828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2628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Abu Dhabi Maritime Academy  ·  AD Ports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6460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0" i="0">
                <a:solidFill>
                  <a:srgbClr val="8FB8CE"/>
                </a:solidFill>
                <a:latin typeface="Calibri"/>
                <a:ea typeface="Calibri"/>
                <a:cs typeface="Calibri"/>
              </a:rPr>
              <a:t>Team BenthosAI: Dr Muhammad Saeed (lead), Akram Habib, Meera Alqubaisi, Mansour Alketbi, Mayed Abdulla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1  THE PROBLEM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Ships are most at risk where the water is least surveyed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7099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Hardest water to survey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122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Shallow coastal water is costly and unsafe for survey boats, and its seabed shifts after storms and dredging.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081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Out-of-date charts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838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Many coastal charts are decades old; channels silt up between surveys.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453127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Turbidity goes unmeasured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85546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Turbid water hides habitats and hazards, and nobody maps it routinely.</a:t>
            </a:r>
          </a:p>
        </p:txBody>
      </p:sp>
      <p:sp>
        <p:nvSpPr>
          <p:cNvPr id="13" name="Affected card"/>
          <p:cNvSpPr/>
          <p:nvPr/>
        </p:nvSpPr>
        <p:spPr>
          <a:xfrm>
            <a:off x="6675120" y="1691640"/>
            <a:ext cx="4873752" cy="361188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002536"/>
            <a:ext cx="4251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Who is affected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6016" y="2423160"/>
            <a:ext cx="4251960" cy="2569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600"/>
              </a:spcAft>
              <a:buSzPct val="100000"/>
              <a:buChar char="•"/>
            </a:pPr>
            <a:r>
              <a:rPr sz="150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Port authorities and harbour masters: </a:t>
            </a:r>
            <a:r>
              <a:rPr sz="15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safe depth in channels and berths</a:t>
            </a:r>
          </a:p>
          <a:p>
            <a:pPr algn="l" marL="219456" indent="-219456">
              <a:spcAft>
                <a:spcPts val="1600"/>
              </a:spcAft>
              <a:buSzPct val="100000"/>
              <a:buChar char="•"/>
            </a:pPr>
            <a:r>
              <a:rPr sz="150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Hydrographic offices: </a:t>
            </a:r>
            <a:r>
              <a:rPr sz="15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which chart areas to re-survey first</a:t>
            </a:r>
          </a:p>
          <a:p>
            <a:pPr algn="l" marL="219456" indent="-219456">
              <a:spcAft>
                <a:spcPts val="1600"/>
              </a:spcAft>
              <a:buSzPct val="100000"/>
              <a:buChar char="•"/>
            </a:pPr>
            <a:r>
              <a:rPr sz="150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Dredging contractors: </a:t>
            </a:r>
            <a:r>
              <a:rPr sz="15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siltation between surveys</a:t>
            </a:r>
          </a:p>
          <a:p>
            <a:pPr algn="l" marL="219456" indent="-219456">
              <a:spcAft>
                <a:spcPts val="1600"/>
              </a:spcAft>
              <a:buSzPct val="100000"/>
              <a:buChar char="•"/>
            </a:pPr>
            <a:r>
              <a:rPr sz="150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Environment agencies: </a:t>
            </a:r>
            <a:r>
              <a:rPr sz="15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water clarity over seagrass and coral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2  BUSINESS USE CASE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A fast, honest first look before sending a boat</a:t>
            </a:r>
          </a:p>
        </p:txBody>
      </p:sp>
      <p:sp>
        <p:nvSpPr>
          <p:cNvPr id="4" name="Use card 1"/>
          <p:cNvSpPr/>
          <p:nvPr/>
        </p:nvSpPr>
        <p:spPr>
          <a:xfrm>
            <a:off x="640080" y="1691640"/>
            <a:ext cx="3483864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194767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551176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End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71800"/>
            <a:ext cx="29718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sz="12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Port hydrographer or coastal manager planning surveys and monitoring change</a:t>
            </a:r>
          </a:p>
        </p:txBody>
      </p:sp>
      <p:sp>
        <p:nvSpPr>
          <p:cNvPr id="8" name="Use card 2"/>
          <p:cNvSpPr/>
          <p:nvPr/>
        </p:nvSpPr>
        <p:spPr>
          <a:xfrm>
            <a:off x="4352544" y="1691640"/>
            <a:ext cx="3483864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551176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971800"/>
            <a:ext cx="29718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sz="12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Where to survey first · has the channel silted · is the water clear · where can the map be trusted</a:t>
            </a:r>
          </a:p>
        </p:txBody>
      </p:sp>
      <p:sp>
        <p:nvSpPr>
          <p:cNvPr id="12" name="Use card 3"/>
          <p:cNvSpPr/>
          <p:nvPr/>
        </p:nvSpPr>
        <p:spPr>
          <a:xfrm>
            <a:off x="8065007" y="1691640"/>
            <a:ext cx="3483864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39" y="1947672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39" y="2551176"/>
            <a:ext cx="2971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971800"/>
            <a:ext cx="2971800" cy="521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500"/>
              </a:spcAft>
              <a:buNone/>
            </a:pPr>
            <a:r>
              <a:rPr sz="12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Vessel surveys: accurate, but days to weeks and costly per area; charts updated rarely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109087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What BenthosAI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900"/>
              </a:spcAft>
              <a:buSzPct val="100000"/>
              <a:buChar char="•"/>
            </a:pPr>
            <a:r>
              <a:rPr sz="13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A dated depth map with a 95 % uncertainty for every pixel</a:t>
            </a: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 and an IHO S-44 grade, showing where a vessel survey is still needed</a:t>
            </a:r>
          </a:p>
          <a:p>
            <a:pPr algn="l" marL="219456" indent="-219456">
              <a:spcAft>
                <a:spcPts val="900"/>
              </a:spcAft>
              <a:buSzPct val="100000"/>
              <a:buChar char="•"/>
            </a:pPr>
            <a:r>
              <a:rPr sz="13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A turbidity (water-clarity) map</a:t>
            </a: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 from the same images: water-quality monitoring at no extra cost</a:t>
            </a:r>
          </a:p>
          <a:p>
            <a:pPr algn="l" marL="219456" indent="-219456">
              <a:spcAft>
                <a:spcPts val="900"/>
              </a:spcAft>
              <a:buSzPct val="100000"/>
              <a:buChar char="•"/>
            </a:pPr>
            <a:r>
              <a:rPr sz="13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Free data, minutes on a laptop</a:t>
            </a: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, repeatable every ~5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3  DATA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Only free, public satellite data in the proof of concept</a:t>
            </a:r>
          </a:p>
        </p:txBody>
      </p:sp>
      <p:graphicFrame>
        <p:nvGraphicFramePr>
          <p:cNvPr id="4" name="Data table"/>
          <p:cNvGraphicFramePr>
            <a:graphicFrameLocks noGrp="1"/>
          </p:cNvGraphicFramePr>
          <p:nvPr/>
        </p:nvGraphicFramePr>
        <p:xfrm>
          <a:off x="640080" y="1691640"/>
          <a:ext cx="10908792" cy="28346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3291840"/>
                <a:gridCol w="4507992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Dataset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gives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Used here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Sentinel-2 L2A (ESA Copernicus)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Multispectral images, 10 m, every ~5 days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3 dates, Aug–Sep 2022, tile T39QXG (Microsoft Planetary Computer)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ICESat-2 ATL24 (NASA)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Green-laser seabed depths along tracks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7 passes 2019–2023 on 3 tracks: calibration and independent test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EOT20 tide model (DGFI-TUM)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Global ocean tides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Laser depths reduced to LAT (chart datum)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Hyperspectral (EnMAP / PRISMA)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Hundreds of narrow bands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Not used in the PoC; next step for seabed type, chlorophyll and sediment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Confidential note"/>
          <p:cNvSpPr/>
          <p:nvPr/>
        </p:nvSpPr>
        <p:spPr>
          <a:xfrm>
            <a:off x="640080" y="4892040"/>
            <a:ext cx="10908792" cy="100584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4983480"/>
            <a:ext cx="10424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300" b="1" i="0">
                <a:solidFill>
                  <a:srgbClr val="13233B"/>
                </a:solidFill>
                <a:latin typeface="Calibri"/>
                <a:ea typeface="Calibri"/>
                <a:cs typeface="Calibri"/>
              </a:rPr>
              <a:t>Confidential training data stay private. </a:t>
            </a:r>
            <a:r>
              <a:rPr sz="13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Our production model is also trained on ≈240,000 AD Ports Group multibeam soundings. These soundings and the trained weights are not in the repository; everything a reviewer runs uses public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4  HOW IT WORKS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From image to depth, uncertainty and turbidity</a:t>
            </a:r>
          </a:p>
        </p:txBody>
      </p:sp>
      <p:sp>
        <p:nvSpPr>
          <p:cNvPr id="4" name="Step 1"/>
          <p:cNvSpPr/>
          <p:nvPr/>
        </p:nvSpPr>
        <p:spPr>
          <a:xfrm>
            <a:off x="640080" y="1691640"/>
            <a:ext cx="1645920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59" y="1874519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3957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Clean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6148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Reflectance, clouds (SCL), water mask (NDWI + SWIR), sun-glint removal</a:t>
            </a:r>
          </a:p>
        </p:txBody>
      </p:sp>
      <p:sp>
        <p:nvSpPr>
          <p:cNvPr id="8" name="Chevron 7"/>
          <p:cNvSpPr/>
          <p:nvPr/>
        </p:nvSpPr>
        <p:spPr>
          <a:xfrm>
            <a:off x="2331720" y="2606040"/>
            <a:ext cx="118872" cy="219456"/>
          </a:xfrm>
          <a:prstGeom prst="chevro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ep 2"/>
          <p:cNvSpPr/>
          <p:nvPr/>
        </p:nvSpPr>
        <p:spPr>
          <a:xfrm>
            <a:off x="2492654" y="1691640"/>
            <a:ext cx="1645920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5534" y="1874519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5534" y="23957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Water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5534" y="276148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NDTI turbidity, red-edge sediment signal, “seabed visible?” test</a:t>
            </a:r>
          </a:p>
        </p:txBody>
      </p:sp>
      <p:sp>
        <p:nvSpPr>
          <p:cNvPr id="13" name="Chevron 12"/>
          <p:cNvSpPr/>
          <p:nvPr/>
        </p:nvSpPr>
        <p:spPr>
          <a:xfrm>
            <a:off x="4184294" y="2606040"/>
            <a:ext cx="118872" cy="219456"/>
          </a:xfrm>
          <a:prstGeom prst="chevro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ep 3"/>
          <p:cNvSpPr/>
          <p:nvPr/>
        </p:nvSpPr>
        <p:spPr>
          <a:xfrm>
            <a:off x="4345228" y="1691640"/>
            <a:ext cx="1645920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28108" y="1874519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8108" y="23957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8108" y="276148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Stumpf log-ratio and Lyzenga log-bands</a:t>
            </a:r>
          </a:p>
        </p:txBody>
      </p:sp>
      <p:sp>
        <p:nvSpPr>
          <p:cNvPr id="18" name="Chevron 17"/>
          <p:cNvSpPr/>
          <p:nvPr/>
        </p:nvSpPr>
        <p:spPr>
          <a:xfrm>
            <a:off x="6036868" y="2606040"/>
            <a:ext cx="118872" cy="219456"/>
          </a:xfrm>
          <a:prstGeom prst="chevro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ep 4"/>
          <p:cNvSpPr/>
          <p:nvPr/>
        </p:nvSpPr>
        <p:spPr>
          <a:xfrm>
            <a:off x="6197803" y="1691640"/>
            <a:ext cx="1645920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80683" y="1874519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0683" y="23957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Calibrate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0683" y="276148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On ICESat-2 depths, one fit per image date</a:t>
            </a:r>
          </a:p>
        </p:txBody>
      </p:sp>
      <p:sp>
        <p:nvSpPr>
          <p:cNvPr id="23" name="Chevron 22"/>
          <p:cNvSpPr/>
          <p:nvPr/>
        </p:nvSpPr>
        <p:spPr>
          <a:xfrm>
            <a:off x="7889443" y="2606040"/>
            <a:ext cx="118872" cy="219456"/>
          </a:xfrm>
          <a:prstGeom prst="chevro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tep 5"/>
          <p:cNvSpPr/>
          <p:nvPr/>
        </p:nvSpPr>
        <p:spPr>
          <a:xfrm>
            <a:off x="8050377" y="1691640"/>
            <a:ext cx="1645920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33257" y="1874519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3257" y="23957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Fuse + U95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3257" y="276148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3 dates weighted; conformal 95 % interval per depth band</a:t>
            </a:r>
          </a:p>
        </p:txBody>
      </p:sp>
      <p:sp>
        <p:nvSpPr>
          <p:cNvPr id="28" name="Chevron 27"/>
          <p:cNvSpPr/>
          <p:nvPr/>
        </p:nvSpPr>
        <p:spPr>
          <a:xfrm>
            <a:off x="9742017" y="2606040"/>
            <a:ext cx="118872" cy="219456"/>
          </a:xfrm>
          <a:prstGeom prst="chevron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tep 6"/>
          <p:cNvSpPr/>
          <p:nvPr/>
        </p:nvSpPr>
        <p:spPr>
          <a:xfrm>
            <a:off x="9902952" y="1691640"/>
            <a:ext cx="1645920" cy="2057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85832" y="1874519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5832" y="239572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5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5832" y="2761488"/>
            <a:ext cx="1280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Unseen laser tracks; RMSE, bias, IHO S-44</a:t>
            </a:r>
          </a:p>
        </p:txBody>
      </p:sp>
      <p:sp>
        <p:nvSpPr>
          <p:cNvPr id="33" name="Leak card"/>
          <p:cNvSpPr/>
          <p:nvPr/>
        </p:nvSpPr>
        <p:spPr>
          <a:xfrm>
            <a:off x="640080" y="4023360"/>
            <a:ext cx="5340096" cy="210312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4279392"/>
            <a:ext cx="482803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Leak-free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4700016"/>
            <a:ext cx="4828031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ICESat-2 repeats the same ground track, so we split by track and swap roles (2 folds): 1218 ↔ 0006 + 0448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A 100 m buffer removes neighbouring pixels, so no information leaks</a:t>
            </a:r>
          </a:p>
        </p:txBody>
      </p:sp>
      <p:sp>
        <p:nvSpPr>
          <p:cNvPr id="36" name="Outputs card"/>
          <p:cNvSpPr/>
          <p:nvPr/>
        </p:nvSpPr>
        <p:spPr>
          <a:xfrm>
            <a:off x="6208776" y="4023360"/>
            <a:ext cx="5340096" cy="210312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279392"/>
            <a:ext cx="482803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Honest outputs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700016"/>
            <a:ext cx="4828031" cy="1170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Every pixel carries depth, ±U95 and a flag: valid · turbid · optically deep · land/cloud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Unreadable water is flagged, not guessed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5  THE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Physics-based features and gradient boosting</a:t>
            </a:r>
          </a:p>
        </p:txBody>
      </p:sp>
      <p:sp>
        <p:nvSpPr>
          <p:cNvPr id="4" name="Inputs card"/>
          <p:cNvSpPr/>
          <p:nvPr/>
        </p:nvSpPr>
        <p:spPr>
          <a:xfrm>
            <a:off x="640080" y="1691640"/>
            <a:ext cx="3483864" cy="324612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911095"/>
            <a:ext cx="30449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Inputs: 7 features per pixel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331720"/>
            <a:ext cx="3044952" cy="238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pSDB</a:t>
            </a: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: Stumpf ln(1000·R_blue) / ln(1000·R_green)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X_B01…X_B04</a:t>
            </a: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: Lyzenga ln(R_i − R∞,i), deep-water signal removed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B05 turbidity</a:t>
            </a: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: red-edge sediment signal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NDTI</a:t>
            </a: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: (red − green)/(red + green)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0" i="1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No coordinates, so the model reads water colour instead of memorising a place</a:t>
            </a:r>
          </a:p>
        </p:txBody>
      </p:sp>
      <p:sp>
        <p:nvSpPr>
          <p:cNvPr id="7" name="Learner card"/>
          <p:cNvSpPr/>
          <p:nvPr/>
        </p:nvSpPr>
        <p:spPr>
          <a:xfrm>
            <a:off x="4352544" y="1691640"/>
            <a:ext cx="3483864" cy="324612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11095"/>
            <a:ext cx="30449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Learner: gradient-boosted trees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31720"/>
            <a:ext cx="3044952" cy="238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scikit-learn </a:t>
            </a:r>
            <a:r>
              <a:rPr sz="11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HistGradientBoostingRegressor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300 trees · learning rate 0.05 · ≤ 15 leaves · ≥ 10 pixels per leaf · L2 1.0 · seed 42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Depth-balanced weights</a:t>
            </a: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 (0–2, 2–5, &gt; 5 m; capped ×5), so deeper water is not swamped by shallows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Target: ICESat-2 ATL24 depth below LAT (≥ 3 photons, confidence ≥ 0.6, spread ≤ 0.5 m)</a:t>
            </a:r>
          </a:p>
        </p:txBody>
      </p:sp>
      <p:sp>
        <p:nvSpPr>
          <p:cNvPr id="10" name="Fusion card"/>
          <p:cNvSpPr/>
          <p:nvPr/>
        </p:nvSpPr>
        <p:spPr>
          <a:xfrm>
            <a:off x="8065008" y="1691640"/>
            <a:ext cx="3483864" cy="324612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911095"/>
            <a:ext cx="304495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Calibration, fusion,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331720"/>
            <a:ext cx="3044952" cy="2386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One fit per image date</a:t>
            </a: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 absorbs that day's tide, haze and water colour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3 dates fused, weighted by out-of-sample error (leave one beam pair out)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U95 = q_band·(σ + γ)</a:t>
            </a: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: σ = spread between dates; split-conformal per depth band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Baselines: Stumpf and Lyzenga (robust Huber regression)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38928"/>
            <a:ext cx="109087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Production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22976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Pipeline v1.4.3 (weights confidential, available to the committee on request): </a:t>
            </a:r>
            <a:r>
              <a:rPr sz="12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LightGBM on 13 physics-based features with monotone (physical) constraints, trained on ≈240,000 AD Ports multibeam soundings at 7 sites and tested leave-one-site-out; a U-Net ensemble is kept as a challenger.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6  WHAT IT PRODUCES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Jebel Dhanna, Abu Dhabi: depth, uncertainty and turbidity</a:t>
            </a:r>
          </a:p>
        </p:txBody>
      </p:sp>
      <p:pic>
        <p:nvPicPr>
          <p:cNvPr id="4" name="Example output maps" descr="example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908792" cy="4090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True colour · depth below LAT · 95 % uncertainty · NDTI turbidity. ICESat-2 tracks: 1218 white, 0006 red, 0448 orange. Output of notebooks/02_main_analysis.ipynb (final model trained on all tracks).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7  ACCURACY AND LIMITATIONS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Tested on laser tracks the models never saw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1307592" cy="105156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28216"/>
            <a:ext cx="1307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0.67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95144"/>
            <a:ext cx="1033271" cy="283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RMSE, UNSEEN TRACKS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39112" y="1600200"/>
            <a:ext cx="1307592" cy="105156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39112" y="1728216"/>
            <a:ext cx="1307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0.92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6272" y="2295144"/>
            <a:ext cx="1033271" cy="283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R²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8144" y="1600200"/>
            <a:ext cx="1307592" cy="105156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8144" y="1728216"/>
            <a:ext cx="1307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86 %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3" y="2295144"/>
            <a:ext cx="1033271" cy="283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IHO S-44 ORDER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37176" y="1600200"/>
            <a:ext cx="1307592" cy="105156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7176" y="1728216"/>
            <a:ext cx="13075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97 %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2295144"/>
            <a:ext cx="1033271" cy="283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U95 COVERAGE</a:t>
            </a:r>
          </a:p>
        </p:txBody>
      </p:sp>
      <p:pic>
        <p:nvPicPr>
          <p:cNvPr id="16" name="Validation scatter" descr="valid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16352"/>
            <a:ext cx="5532120" cy="17979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080" y="4645152"/>
            <a:ext cx="5532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Predicted vs ICESat-2 depth, cross-track (789 pixels)</a:t>
            </a:r>
          </a:p>
        </p:txBody>
      </p:sp>
      <p:graphicFrame>
        <p:nvGraphicFramePr>
          <p:cNvPr id="18" name="Metrics table"/>
          <p:cNvGraphicFramePr>
            <a:graphicFrameLocks noGrp="1"/>
          </p:cNvGraphicFramePr>
          <p:nvPr/>
        </p:nvGraphicFramePr>
        <p:xfrm>
          <a:off x="6446520" y="1600200"/>
          <a:ext cx="5102352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603504"/>
                <a:gridCol w="548640"/>
                <a:gridCol w="603504"/>
                <a:gridCol w="493776"/>
                <a:gridCol w="640080"/>
                <a:gridCol w="749808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RMSE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MAE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Bias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R²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Ord 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U95 cov.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Stumpf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1.25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+0.28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0.73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59 %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99 %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Lyzenga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1.00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0.86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-0.52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0.82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67 %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90 %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Gradient boosting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0.67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0.42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-0.06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0.92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86 %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</a:rPr>
                        <a:t>97 %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Band table"/>
          <p:cNvGraphicFramePr>
            <a:graphicFrameLocks noGrp="1"/>
          </p:cNvGraphicFramePr>
          <p:nvPr/>
        </p:nvGraphicFramePr>
        <p:xfrm>
          <a:off x="6446520" y="2816352"/>
          <a:ext cx="5102352" cy="14813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86000"/>
                <a:gridCol w="548640"/>
                <a:gridCol w="777240"/>
                <a:gridCol w="731520"/>
                <a:gridCol w="758952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Gradient boosting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RMSE 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Bias 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Ord 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Depth 0–2 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431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0.20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+0.09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100 %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Depth 2–5 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243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0.77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+0.10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81 %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Depth 5–12 m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115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1.29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-0.97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46 %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Fold A (test 0006+0448)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207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1.11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-0.28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63 %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EEF4F8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Fold B (test 1218)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582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0.41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+0.02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33404F"/>
                          </a:solidFill>
                          <a:latin typeface="Calibri"/>
                          <a:ea typeface="Calibri"/>
                          <a:cs typeface="Calibri"/>
                        </a:rPr>
                        <a:t>95 %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E4E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5029200"/>
            <a:ext cx="5532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Limitations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Optical reach ≈ 10–12 m in clear water; less when turbid (flagged)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Laser passes 2019–2023 vs images 2022; the dredged site has changed</a:t>
            </a:r>
          </a:p>
          <a:p>
            <a:pPr algn="l" marL="0" indent="0">
              <a:spcAft>
                <a:spcPts val="600"/>
              </a:spcAft>
              <a:buNone/>
            </a:pPr>
            <a:r>
              <a:rPr sz="11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Reference is satellite laser, not a certified survey; not for navigation</a:t>
            </a:r>
          </a:p>
        </p:txBody>
      </p:sp>
      <p:sp>
        <p:nvSpPr>
          <p:cNvPr id="21" name="Internal card"/>
          <p:cNvSpPr/>
          <p:nvPr/>
        </p:nvSpPr>
        <p:spPr>
          <a:xfrm>
            <a:off x="6446520" y="4526280"/>
            <a:ext cx="5102352" cy="178308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709160"/>
            <a:ext cx="47365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Production model: internal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129784"/>
            <a:ext cx="473659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Confidential: ≈240,000 multibeam soundings, 7 Abu Dhabi sites, whole sites held out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Khalifa Port 2021: </a:t>
            </a:r>
            <a:r>
              <a:rPr sz="110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RMSE 0.26 m</a:t>
            </a:r>
            <a:r>
              <a:rPr sz="11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 · S-44 Order 2 99.8 %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1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All sites, &lt; 12 m (38,345 pts): RMSE 0.85 m · bias −0.02 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8  IMPACT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Why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83864" cy="11430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19656"/>
            <a:ext cx="3483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~5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86584"/>
            <a:ext cx="32095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REVISIT BETWEEN VESSEL SURVEYS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2544" y="1691640"/>
            <a:ext cx="3483864" cy="11430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2544" y="1819656"/>
            <a:ext cx="3483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$0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386584"/>
            <a:ext cx="32095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FREE SATELLITE AND TIDE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7" y="1691640"/>
            <a:ext cx="3483864" cy="11430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7" y="1819656"/>
            <a:ext cx="34838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2800" b="1" i="0">
                <a:solidFill>
                  <a:srgbClr val="065A82"/>
                </a:solidFill>
                <a:latin typeface="Cambria"/>
                <a:ea typeface="Cambria"/>
                <a:cs typeface="Cambria"/>
              </a:rPr>
              <a:t>±U95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7" y="2386584"/>
            <a:ext cx="3209544" cy="374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 marL="0" indent="0">
              <a:spcAft>
                <a:spcPts val="600"/>
              </a:spcAft>
              <a:buNone/>
            </a:pPr>
            <a:r>
              <a:rPr sz="1000" b="0" i="0">
                <a:solidFill>
                  <a:srgbClr val="6B7885"/>
                </a:solidFill>
                <a:latin typeface="Calibri"/>
                <a:ea typeface="Calibri"/>
                <a:cs typeface="Calibri"/>
              </a:rPr>
              <a:t>TRUST LEVEL ON EVERY PIXEL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9087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What this changes</a:t>
            </a:r>
          </a:p>
        </p:txBody>
      </p:sp>
      <p:sp>
        <p:nvSpPr>
          <p:cNvPr id="14" name="Impact list"/>
          <p:cNvSpPr txBox="1"/>
          <p:nvPr/>
        </p:nvSpPr>
        <p:spPr>
          <a:xfrm>
            <a:off x="777240" y="36576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1100"/>
              </a:spcAft>
              <a:buSzPct val="100000"/>
              <a:buChar char="•"/>
            </a:pPr>
            <a:r>
              <a:rPr sz="1500" b="1" i="0">
                <a:solidFill>
                  <a:srgbClr val="13233B"/>
                </a:solidFill>
                <a:latin typeface="Calibri"/>
                <a:ea typeface="Calibri"/>
                <a:cs typeface="Calibri"/>
              </a:rPr>
              <a:t>Safer navigation: </a:t>
            </a:r>
            <a:r>
              <a:rPr sz="15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spot shoaling in channels and approaches early</a:t>
            </a:r>
          </a:p>
          <a:p>
            <a:pPr algn="l" marL="219456" indent="-219456">
              <a:spcAft>
                <a:spcPts val="1100"/>
              </a:spcAft>
              <a:buSzPct val="100000"/>
              <a:buChar char="•"/>
            </a:pPr>
            <a:r>
              <a:rPr sz="1500" b="1" i="0">
                <a:solidFill>
                  <a:srgbClr val="13233B"/>
                </a:solidFill>
                <a:latin typeface="Calibri"/>
                <a:ea typeface="Calibri"/>
                <a:cs typeface="Calibri"/>
              </a:rPr>
              <a:t>Lower survey cost: </a:t>
            </a:r>
            <a:r>
              <a:rPr sz="15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send vessels only to uncertain or changing areas</a:t>
            </a:r>
          </a:p>
          <a:p>
            <a:pPr algn="l" marL="219456" indent="-219456">
              <a:spcAft>
                <a:spcPts val="1100"/>
              </a:spcAft>
              <a:buSzPct val="100000"/>
              <a:buChar char="•"/>
            </a:pPr>
            <a:r>
              <a:rPr sz="1500" b="1" i="0">
                <a:solidFill>
                  <a:srgbClr val="13233B"/>
                </a:solidFill>
                <a:latin typeface="Calibri"/>
                <a:ea typeface="Calibri"/>
                <a:cs typeface="Calibri"/>
              </a:rPr>
              <a:t>Water quality: </a:t>
            </a:r>
            <a:r>
              <a:rPr sz="15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turbidity maps for dredging plumes, habitats and coastal works from the same images</a:t>
            </a:r>
          </a:p>
          <a:p>
            <a:pPr algn="l" marL="219456" indent="-219456">
              <a:spcAft>
                <a:spcPts val="1100"/>
              </a:spcAft>
              <a:buSzPct val="100000"/>
              <a:buChar char="•"/>
            </a:pPr>
            <a:r>
              <a:rPr sz="1500" b="1" i="0">
                <a:solidFill>
                  <a:srgbClr val="13233B"/>
                </a:solidFill>
                <a:latin typeface="Calibri"/>
                <a:ea typeface="Calibri"/>
                <a:cs typeface="Calibri"/>
              </a:rPr>
              <a:t>Regional scale: </a:t>
            </a:r>
            <a:r>
              <a:rPr sz="150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any clear Arab-region coast (Gulf, Red Sea) with ICESat-2 coverage; runs on a laptop in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40080" y="384048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1C7293"/>
                </a:solidFill>
                <a:latin typeface="Calibri"/>
                <a:ea typeface="Calibri"/>
                <a:cs typeface="Calibri"/>
              </a:rPr>
              <a:t>9  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58368"/>
            <a:ext cx="10908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2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From proof of concept to an operational service</a:t>
            </a:r>
          </a:p>
        </p:txBody>
      </p:sp>
      <p:sp>
        <p:nvSpPr>
          <p:cNvPr id="4" name="Technical card"/>
          <p:cNvSpPr/>
          <p:nvPr/>
        </p:nvSpPr>
        <p:spPr>
          <a:xfrm>
            <a:off x="640080" y="1691640"/>
            <a:ext cx="5340096" cy="3200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47672"/>
            <a:ext cx="482803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Technical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368296"/>
            <a:ext cx="4828031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50" b="1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Hyperspectral</a:t>
            </a: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 (EnMAP / PRISMA) for seabed type, chlorophyll and sediment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Time series: depth and turbidity change maps for siltation monitoring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More sites across the Gulf and Red Sea; automatic tide reduction everywhere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Simple web app: draw an area → maps and report (desktop prototype exists)</a:t>
            </a:r>
          </a:p>
        </p:txBody>
      </p:sp>
      <p:sp>
        <p:nvSpPr>
          <p:cNvPr id="7" name="Partners card"/>
          <p:cNvSpPr/>
          <p:nvPr/>
        </p:nvSpPr>
        <p:spPr>
          <a:xfrm>
            <a:off x="6208776" y="1691640"/>
            <a:ext cx="5340096" cy="320040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4808" y="1947672"/>
            <a:ext cx="482803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600" b="1" i="0">
                <a:solidFill>
                  <a:srgbClr val="13233B"/>
                </a:solidFill>
                <a:latin typeface="Cambria"/>
                <a:ea typeface="Cambria"/>
                <a:cs typeface="Cambria"/>
              </a:rPr>
              <a:t>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68296"/>
            <a:ext cx="4828031" cy="2267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Pilot with port and hydrographic partners in the UAE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Grade against IHO S-44 with independent surveys</a:t>
            </a:r>
          </a:p>
          <a:p>
            <a:pPr algn="l" marL="219456" indent="-219456">
              <a:spcAft>
                <a:spcPts val="500"/>
              </a:spcAft>
              <a:buSzPct val="100000"/>
              <a:buChar char="•"/>
            </a:pP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Compute and data support for regional scale-up</a:t>
            </a:r>
          </a:p>
        </p:txBody>
      </p:sp>
      <p:sp>
        <p:nvSpPr>
          <p:cNvPr id="10" name="Repo card"/>
          <p:cNvSpPr/>
          <p:nvPr/>
        </p:nvSpPr>
        <p:spPr>
          <a:xfrm>
            <a:off x="640080" y="5120640"/>
            <a:ext cx="10908792" cy="868680"/>
          </a:xfrm>
          <a:prstGeom prst="roundRect">
            <a:avLst>
              <a:gd name="adj" fmla="val 2700"/>
            </a:avLst>
          </a:prstGeom>
          <a:solidFill>
            <a:srgbClr val="EEF4F8"/>
          </a:solidFill>
          <a:ln w="9525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12064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350" b="1" i="0">
                <a:solidFill>
                  <a:srgbClr val="13233B"/>
                </a:solidFill>
                <a:latin typeface="Calibri"/>
                <a:ea typeface="Calibri"/>
                <a:cs typeface="Calibri"/>
              </a:rPr>
              <a:t>Reproducible today: </a:t>
            </a:r>
            <a:r>
              <a:rPr sz="1350" b="0" i="0">
                <a:solidFill>
                  <a:srgbClr val="33404F"/>
                </a:solidFill>
                <a:latin typeface="Calibri"/>
                <a:ea typeface="Calibri"/>
                <a:cs typeface="Calibri"/>
              </a:rPr>
              <a:t>notebook, sample data, results and README run end to end in under a minute on a laptop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908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200" b="1" i="0">
                <a:solidFill>
                  <a:srgbClr val="8FB8CE"/>
                </a:solidFill>
                <a:latin typeface="Calibri"/>
                <a:ea typeface="Calibri"/>
                <a:cs typeface="Calibri"/>
              </a:rPr>
              <a:t>10  TEAM BENTHOSAI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1" i="0">
                <a:solidFill>
                  <a:srgbClr val="8FB8CE"/>
                </a:solidFill>
                <a:latin typeface="Calibri"/>
                <a:ea typeface="Calibri"/>
                <a:cs typeface="Calibri"/>
              </a:rPr>
              <a:t>Dr Muhammad Saeed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0440" y="237744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Team lead: SDB pipeline, model and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1" i="0">
                <a:solidFill>
                  <a:srgbClr val="8FB8CE"/>
                </a:solidFill>
                <a:latin typeface="Calibri"/>
                <a:ea typeface="Calibri"/>
                <a:cs typeface="Calibri"/>
              </a:rPr>
              <a:t>Akram Habib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83464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Faculty co-lead: port use case, review and approvals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1" i="0">
                <a:solidFill>
                  <a:srgbClr val="8FB8CE"/>
                </a:solidFill>
                <a:latin typeface="Calibri"/>
                <a:ea typeface="Calibri"/>
                <a:cs typeface="Calibri"/>
              </a:rPr>
              <a:t>Meera Alqubaisi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329184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Reproducibility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1" i="0">
                <a:solidFill>
                  <a:srgbClr val="8FB8CE"/>
                </a:solidFill>
                <a:latin typeface="Calibri"/>
                <a:ea typeface="Calibri"/>
                <a:cs typeface="Calibri"/>
              </a:rPr>
              <a:t>Mansour Alketbi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3749039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Presentation, PDF export and demo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06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1" i="0">
                <a:solidFill>
                  <a:srgbClr val="8FB8CE"/>
                </a:solidFill>
                <a:latin typeface="Calibri"/>
                <a:ea typeface="Calibri"/>
                <a:cs typeface="Calibri"/>
              </a:rPr>
              <a:t>Mayed Abdulla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206240"/>
            <a:ext cx="7955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Submission checklist and hyperspectral next step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892040"/>
            <a:ext cx="1005840" cy="1828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sz="1300" b="0" i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Abu Dhabi Maritime Academy  ·  AD Ports Group  ·  Arab Youth Space Hackathon 2026, 813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1771</Words>
  <Application>Microsoft Office PowerPoint</Application>
  <PresentationFormat>Widescreen</PresentationFormat>
  <Paragraphs>204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Saeed</cp:lastModifiedBy>
  <cp:revision>2</cp:revision>
  <dcterms:created xsi:type="dcterms:W3CDTF">2026-09-15T06:11:00Z</dcterms:created>
  <dcterms:modified xsi:type="dcterms:W3CDTF">2026-09-15T06:30:10Z</dcterms:modified>
</cp:coreProperties>
</file>